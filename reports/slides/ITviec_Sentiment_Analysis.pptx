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51f601ec1e44d98" Type="http://schemas.openxmlformats.org/package/2006/relationships/metadata/core-properties" Target="docProps/core.xml"/><Relationship Id="R56b5c14f2d084b75" Type="http://schemas.openxmlformats.org/officeDocument/2006/relationships/officeDocument" Target="ppt/presentation.xml"/><Relationship Id="R928363ae9a20470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35db0d22386409d"/>
  </p:sldMasterIdLst>
  <p:notesMasterIdLst>
    <p:notesMasterId xmlns:r="http://schemas.openxmlformats.org/officeDocument/2006/relationships" r:id="Rf9ab59980ceb4569"/>
  </p:notesMasterIdLst>
  <p:sldIdLst>
    <p:sldId xmlns:r="http://schemas.openxmlformats.org/officeDocument/2006/relationships" id="256" r:id="Ra35b33c4dafd4abc"/>
    <p:sldId xmlns:r="http://schemas.openxmlformats.org/officeDocument/2006/relationships" id="257" r:id="Rad07964a62ea4fc0"/>
    <p:sldId xmlns:r="http://schemas.openxmlformats.org/officeDocument/2006/relationships" id="258" r:id="R598d8865e61d49ac"/>
    <p:sldId xmlns:r="http://schemas.openxmlformats.org/officeDocument/2006/relationships" id="259" r:id="R3dc5a626c00c43c5"/>
    <p:sldId xmlns:r="http://schemas.openxmlformats.org/officeDocument/2006/relationships" id="260" r:id="R2d0667cffa8944fc"/>
    <p:sldId xmlns:r="http://schemas.openxmlformats.org/officeDocument/2006/relationships" id="261" r:id="Rc7b01f04705545c8"/>
    <p:sldId xmlns:r="http://schemas.openxmlformats.org/officeDocument/2006/relationships" id="262" r:id="R484a9f7f64534a4b"/>
    <p:sldId xmlns:r="http://schemas.openxmlformats.org/officeDocument/2006/relationships" id="263" r:id="Ra00048383c1544f2"/>
    <p:sldId xmlns:r="http://schemas.openxmlformats.org/officeDocument/2006/relationships" id="264" r:id="Ra15fcace237049f3"/>
    <p:sldId xmlns:r="http://schemas.openxmlformats.org/officeDocument/2006/relationships" id="265" r:id="R385a2abad5514d2f"/>
    <p:sldId xmlns:r="http://schemas.openxmlformats.org/officeDocument/2006/relationships" id="266" r:id="R951c19ce46ef4a4f"/>
    <p:sldId xmlns:r="http://schemas.openxmlformats.org/officeDocument/2006/relationships" id="267" r:id="Ra5f000aea2534e3a"/>
    <p:sldId xmlns:r="http://schemas.openxmlformats.org/officeDocument/2006/relationships" id="268" r:id="Rb950c3ac41ae4615"/>
    <p:sldId xmlns:r="http://schemas.openxmlformats.org/officeDocument/2006/relationships" id="269" r:id="Re819076286cd4919"/>
    <p:sldId xmlns:r="http://schemas.openxmlformats.org/officeDocument/2006/relationships" id="270" r:id="Rf60d6fe5ec9f41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d0667cffa8944fc" Type="http://schemas.openxmlformats.org/officeDocument/2006/relationships/slide" Target="slides/slide5.xml"/><Relationship Id="R385a2abad5514d2f" Type="http://schemas.openxmlformats.org/officeDocument/2006/relationships/slide" Target="slides/slide10.xml"/><Relationship Id="R3dc5a626c00c43c5" Type="http://schemas.openxmlformats.org/officeDocument/2006/relationships/slide" Target="slides/slide4.xml"/><Relationship Id="R484a9f7f64534a4b" Type="http://schemas.openxmlformats.org/officeDocument/2006/relationships/slide" Target="slides/slide7.xml"/><Relationship Id="R516738f9b6694708" Type="http://schemas.openxmlformats.org/officeDocument/2006/relationships/presProps" Target="presProps.xml"/><Relationship Id="R598d8865e61d49ac" Type="http://schemas.openxmlformats.org/officeDocument/2006/relationships/slide" Target="slides/slide3.xml"/><Relationship Id="R951c19ce46ef4a4f" Type="http://schemas.openxmlformats.org/officeDocument/2006/relationships/slide" Target="slides/slide11.xml"/><Relationship Id="R9aa255d5ddb14280" Type="http://schemas.openxmlformats.org/officeDocument/2006/relationships/tableStyles" Target="tableStyles.xml"/><Relationship Id="Ra00048383c1544f2" Type="http://schemas.openxmlformats.org/officeDocument/2006/relationships/slide" Target="slides/slide8.xml"/><Relationship Id="Ra15fcace237049f3" Type="http://schemas.openxmlformats.org/officeDocument/2006/relationships/slide" Target="slides/slide9.xml"/><Relationship Id="Ra35b33c4dafd4abc" Type="http://schemas.openxmlformats.org/officeDocument/2006/relationships/slide" Target="slides/slide1.xml"/><Relationship Id="Ra5f000aea2534e3a" Type="http://schemas.openxmlformats.org/officeDocument/2006/relationships/slide" Target="slides/slide12.xml"/><Relationship Id="Rad07964a62ea4fc0" Type="http://schemas.openxmlformats.org/officeDocument/2006/relationships/slide" Target="slides/slide2.xml"/><Relationship Id="Rb950c3ac41ae4615" Type="http://schemas.openxmlformats.org/officeDocument/2006/relationships/slide" Target="slides/slide13.xml"/><Relationship Id="Rc7b01f04705545c8" Type="http://schemas.openxmlformats.org/officeDocument/2006/relationships/slide" Target="slides/slide6.xml"/><Relationship Id="Rd2f81b82f1f640aa" Type="http://schemas.openxmlformats.org/officeDocument/2006/relationships/theme" Target="theme/theme1.xml"/><Relationship Id="Rd35db0d22386409d" Type="http://schemas.openxmlformats.org/officeDocument/2006/relationships/slideMaster" Target="slideMasters/slideMaster1.xml"/><Relationship Id="Re819076286cd4919" Type="http://schemas.openxmlformats.org/officeDocument/2006/relationships/slide" Target="slides/slide14.xml"/><Relationship Id="Rf60d6fe5ec9f411b" Type="http://schemas.openxmlformats.org/officeDocument/2006/relationships/slide" Target="slides/slide15.xml"/><Relationship Id="Rf9ab59980ceb456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c522700b08cf42e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850f57fe794922" Type="http://schemas.openxmlformats.org/officeDocument/2006/relationships/notesMaster" Target="../notesMasters/notesMaster1.xml"/><Relationship Id="R8dd83ae728cb404a"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e9c195fda994e7a" Type="http://schemas.openxmlformats.org/officeDocument/2006/relationships/notesMaster" Target="../notesMasters/notesMaster1.xml"/><Relationship Id="Rb7acce429f3c4a63"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4a627c856d44366" Type="http://schemas.openxmlformats.org/officeDocument/2006/relationships/slide" Target="../slides/slide3.xml"/><Relationship Id="Ra09546a32d314d6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5c272af0d8d7426f" Type="http://schemas.openxmlformats.org/officeDocument/2006/relationships/notesMaster" Target="../notesMasters/notesMaster1.xml"/><Relationship Id="Rd77a8a9b5dac4eb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3152b2116b0445e" Type="http://schemas.openxmlformats.org/officeDocument/2006/relationships/slide" Target="../slides/slide5.xml"/><Relationship Id="Re8bac5af55dc459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08eab555390412f" Type="http://schemas.openxmlformats.org/officeDocument/2006/relationships/slide" Target="../slides/slide6.xml"/><Relationship Id="Re9b6109d05654fda"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9d201d11e6e41f7" Type="http://schemas.openxmlformats.org/officeDocument/2006/relationships/notesMaster" Target="../notesMasters/notesMaster1.xml"/><Relationship Id="Rd7c9de77f1ac4e9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141bd9951ee4912" Type="http://schemas.openxmlformats.org/officeDocument/2006/relationships/slide" Target="../slides/slide8.xml"/><Relationship Id="Rae7819aefbb848d0"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4287df160ff4488" Type="http://schemas.openxmlformats.org/officeDocument/2006/relationships/notesMaster" Target="../notesMasters/notesMaster1.xml"/><Relationship Id="Re9ede9e1341f4d9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5d6cc8565b9145b6" Type="http://schemas.openxmlformats.org/officeDocument/2006/relationships/slide" Target="../slides/slide10.xml"/><Relationship Id="R75104ba3ea82444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1802789d6404782" Type="http://schemas.openxmlformats.org/officeDocument/2006/relationships/notesMaster" Target="../notesMasters/notesMaster1.xml"/><Relationship Id="Rec959e170dc34ccb"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1f689e7801a41a9" Type="http://schemas.openxmlformats.org/officeDocument/2006/relationships/slide" Target="../slides/slide12.xml"/><Relationship Id="Re17595b7d75e4754"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1974049ca934af5" Type="http://schemas.openxmlformats.org/officeDocument/2006/relationships/notesMaster" Target="../notesMasters/notesMaster1.xml"/><Relationship Id="R6e5dcc4b7c6f4f2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ee4b2efd41d442cd" Type="http://schemas.openxmlformats.org/officeDocument/2006/relationships/notesMaster" Target="../notesMasters/notesMaster1.xml"/><Relationship Id="Rf64eba54dd3548c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ea24cc9aad24693" Type="http://schemas.openxmlformats.org/officeDocument/2006/relationships/slide" Target="../slides/slide15.xml"/><Relationship Id="R489397cd0d764b5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Kính chào Thầy Cáp Phạm Đình Thăng và các bạn. Nhóm sinh viên năm nhất báo cáo đồ án phân tích cảm xúc 8.414 review ITviec ba lớp Tích cực, Trung tính, Tiêu cực. (~25s)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Hai thử thách: mất cân bằng lớp 11:1 (73,8% vs 6,8%) nên cần Macro F1 làm thước đo chính. Nhãn yếu suy từ số sao, lời review thường vừa khen vừa chê.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Quy trình 5 bước: làm sạch 2 tầng, TF-IDF, thử 5 mô hình với SMOTE trên tập Development. Bản retrained_v2 đạt Macro F1 0,5764 trên cùng Final Test cũ làm đối chứng.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Tầng 1 chuẩn hóa ký tự và thuật ngữ IT. Tầng 2 tách từ tiếng Việt và tuyệt đối giữ lại từ phủ định (không, chưa) và từ mức độ (thấp, thiếu) để tránh hiểu ngược câu.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Lương và Quản lý tương quan cao nhất với rating (&gt;0,73), văn phòng thấp hơn (~0,54). Pipeline chính chỉ dùng văn bản vì thực tế người dùng không chấm điểm phụ.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TF-IDF thêm Bigram tăng Macro F1 từ 55,69% lên 57,22%, giữ được cụm “không lương”, “thiếu minh bạch”. Cấu hình 5.000 đặc trưng, chia tập Stratified 80/20 giữ nguyên tỷ lệ lớp.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Thử 5 mô hình cơ bản. SMOTE chỉ áp dụng bên trong fold huấn luyện để chống rò rỉ dữ liệu (Data Leakage), giữ nguyên vẹn tập validation.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 (0:40)]</a:t>
            </a:r>
          </a:p>
          <a:p xmlns:a="http://schemas.openxmlformats.org/drawingml/2006/main">
            <a:r>
              <a:t>Xếp hạng ban đầu: LR (0,5727) và SVM (0,5724) bám sát nhau. Chọn LR vì trả xác suất. Sau sửa tiền xử lý, chạy phép CV riêng tăng lên 0,5815 (không trừ điểm trực tiếp vào bảng cũ). (~40s)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 (0:45)]</a:t>
            </a:r>
          </a:p>
          <a:p xmlns:a="http://schemas.openxmlformats.org/drawingml/2006/main">
            <a:r>
              <a:t>Final Test cũ: Accuracy 74,33%, Macro F1 0,5764, sai 432 mẫu. Lớp Negative: tìm đúng 52/114 mẫu, Recall chỉ đạt 45,6% (F1 0,3910). Nhận diện lời chê là thách thức lớn nhất của bài toán. (~45s)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Phân loại 15 ca lỗi minh họa: 7 ca review nhiều vế đối lập (vừa khen vừa chê), 6 ca cấu trúc phủ định khó, 2 ca nhãn rating chưa rõ. Giúp hiểu ranh giới của mô hình tuyến tính.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Khám phá 5 công ty: Lương &amp; đãi ngộ thấp nhất ở 4/5 công ty, riêng VNG thấp nhất ở Quản lý. Đây là phân tích mô tả trên dữ liệu thu thập, nhóm không xếp hạng công ty thực tế.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Minh họa câu test OT không lương: Bản sửa nhận diện Tiêu cực 99,0%. Bigram “thường_xuyên ot”, “không lương” nổi bật rõ nét. Trục biểu đồ nhân 100 để quan sát, không phải xác suất.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Nhóm sinh viên năm nhất hoàn thành trọn vẹn pipeline học máy. Hạn chế: nhãn yếu từ rating, Negative F1 chỉ 0,3910, mô hình TF-IDF chưa hiểu ngữ nghĩa sâu của câu phức.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Đóng góp: Pipeline chuẩn mực, đánh giá minh bạch, ứng dụng demo. Hướng tới: gán nhãn chuẩn, ABSA khía cạnh, PhoBERT. Kết thúc slide, mời bạn Khang live demo.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Bạn Nguyễn Duy Khang chuyển sang ứng dụng Streamlit đã mở sẵn để thao tác trực tiếp 3 tính năng: Insight doanh nghiệp -&gt; Đánh giá 1 lỗi -&gt; Phân tích review theo thời gian thực (~25s dẫn dắt).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b0fbaabac2244a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eed737cf1104d76" Type="http://schemas.openxmlformats.org/officeDocument/2006/relationships/theme" Target="theme/theme2.xml"/><Relationship Id="Rd49a1574ff894178"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a1574ff8941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55e09cead574959" Type="http://schemas.openxmlformats.org/officeDocument/2006/relationships/image" Target="../media/image.svg"/><Relationship Id="R4611cefa7db44724" Type="http://schemas.openxmlformats.org/officeDocument/2006/relationships/image" Target="../media/image.png"/><Relationship Id="R9c056c40e9d248f5" Type="http://schemas.openxmlformats.org/officeDocument/2006/relationships/slideLayout" Target="../slideLayouts/slideLayout1.xml"/><Relationship Id="Rb0d4f0d6f1354170"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6708a503becf43a6" Type="http://schemas.openxmlformats.org/officeDocument/2006/relationships/notesSlide" Target="../notesSlides/notesSlide2.xml"/><Relationship Id="Rd715ca4579904bc8" Type="http://schemas.openxmlformats.org/officeDocument/2006/relationships/chart" Target="charts/chart1.xml"/><Relationship Id="Rf12ec114270f4726"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0172a5518984ef8" Type="http://schemas.openxmlformats.org/officeDocument/2006/relationships/notesSlide" Target="../notesSlides/notesSlide3.xml"/><Relationship Id="Re22d749946fb496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a6cba0e0c0bc4882" Type="http://schemas.openxmlformats.org/officeDocument/2006/relationships/slideLayout" Target="../slideLayouts/slideLayout1.xml"/><Relationship Id="Rfad30d76c65f436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41c3b1181f94fdf" Type="http://schemas.openxmlformats.org/officeDocument/2006/relationships/notesSlide" Target="../notesSlides/notesSlide5.xml"/><Relationship Id="R77375ddf5fb14395" Type="http://schemas.openxmlformats.org/officeDocument/2006/relationships/slideLayout" Target="../slideLayouts/slideLayout1.xml"/><Relationship Id="Rf3f4e884f7034a0a" Type="http://schemas.openxmlformats.org/officeDocument/2006/relationships/image" Target="../media/image2.png"/></Relationships>
</file>

<file path=ppt/slides/_rels/slide6.xml.rels><?xml version='1.0' encoding='UTF-8' standalone='yes'?>
<Relationships xmlns="http://schemas.openxmlformats.org/package/2006/relationships"><Relationship Id="R36460a1385f14e19" Type="http://schemas.openxmlformats.org/officeDocument/2006/relationships/slideLayout" Target="../slideLayouts/slideLayout1.xml"/><Relationship Id="R514a737a3e3a4786" Type="http://schemas.openxmlformats.org/officeDocument/2006/relationships/notesSlide" Target="../notesSlides/notesSlide6.xml"/><Relationship Id="Rb17d24a0874d4fb8" Type="http://schemas.openxmlformats.org/officeDocument/2006/relationships/chart" Target="charts/chart2.xml"/></Relationships>
</file>

<file path=ppt/slides/_rels/slide7.xml.rels><?xml version='1.0' encoding='UTF-8' standalone='yes'?>
<Relationships xmlns="http://schemas.openxmlformats.org/package/2006/relationships"><Relationship Id="R7569a1f1b45e4f31" Type="http://schemas.openxmlformats.org/officeDocument/2006/relationships/slideLayout" Target="../slideLayouts/slideLayout1.xml"/><Relationship Id="R881d6274ab324a8d"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576c1883a47469d" Type="http://schemas.openxmlformats.org/officeDocument/2006/relationships/notesSlide" Target="../notesSlides/notesSlide8.xml"/><Relationship Id="Rdc45e6a17d3e4b78" Type="http://schemas.openxmlformats.org/officeDocument/2006/relationships/slideLayout" Target="../slideLayouts/slideLayout1.xml"/><Relationship Id="Re88c139d27314149" Type="http://schemas.openxmlformats.org/officeDocument/2006/relationships/chart" Target="charts/chart3.xml"/></Relationships>
</file>

<file path=ppt/slides/_rels/slide9.xml.rels><?xml version='1.0' encoding='UTF-8' standalone='yes'?>
<Relationships xmlns="http://schemas.openxmlformats.org/package/2006/relationships"><Relationship Id="R8c99ee1133864427" Type="http://schemas.openxmlformats.org/officeDocument/2006/relationships/slideLayout" Target="../slideLayouts/slideLayout1.xml"/><Relationship Id="Reb569588007e4301" Type="http://schemas.openxmlformats.org/officeDocument/2006/relationships/notesSlide" Target="../notesSlides/notesSlide9.xml"/><Relationship Id="Rfdddb44e8e944fdc" Type="http://schemas.openxmlformats.org/officeDocument/2006/relationships/chart" Target="charts/chart4.xml"/></Relationships>
</file>

<file path=ppt/slides/_rels/slide10.xml.rels><?xml version='1.0' encoding='UTF-8' standalone='yes'?>
<Relationships xmlns="http://schemas.openxmlformats.org/package/2006/relationships"><Relationship Id="R0b3c5b87d9084090" Type="http://schemas.openxmlformats.org/officeDocument/2006/relationships/notesSlide" Target="../notesSlides/notesSlide10.xml"/><Relationship Id="Rdacbcf65100146f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f0d06d4599148b7" Type="http://schemas.openxmlformats.org/officeDocument/2006/relationships/chart" Target="charts/chart5.xml"/><Relationship Id="R6bc88b3399c54f05" Type="http://schemas.openxmlformats.org/officeDocument/2006/relationships/notesSlide" Target="../notesSlides/notesSlide11.xml"/><Relationship Id="R8457b86087c94cef"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c85f94e2a97d4378" Type="http://schemas.openxmlformats.org/officeDocument/2006/relationships/chart" Target="charts/chart6.xml"/><Relationship Id="Rcd7029490c744bbb" Type="http://schemas.openxmlformats.org/officeDocument/2006/relationships/slideLayout" Target="../slideLayouts/slideLayout1.xml"/><Relationship Id="Rda9ee774bd4749a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a95e68e55ad426d" Type="http://schemas.openxmlformats.org/officeDocument/2006/relationships/slideLayout" Target="../slideLayouts/slideLayout1.xml"/><Relationship Id="Rd8e102b7341b444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76a4681176e946d7" Type="http://schemas.openxmlformats.org/officeDocument/2006/relationships/notesSlide" Target="../notesSlides/notesSlide14.xml"/><Relationship Id="Rfcd2cc285a2e496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b83ae0a35a24309" Type="http://schemas.openxmlformats.org/officeDocument/2006/relationships/notesSlide" Target="../notesSlides/notesSlide15.xml"/><Relationship Id="R5d0772c3ca7e4abd" Type="http://schemas.openxmlformats.org/officeDocument/2006/relationships/slideLayout" Target="../slideLayouts/slideLayout1.xml"/></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39.1</c:v>
              </c:pt>
              <c:pt idx="1">
                <c:v>47.8</c:v>
              </c:pt>
              <c:pt idx="2">
                <c:v>86.02</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(×100)</c:v>
          </c:tx>
          <c:spPr>
            <a:solidFill xmlns:a="http://schemas.openxmlformats.org/drawingml/2006/main">
              <a:srgbClr val="FF667B"/>
            </a:solidFill>
          </c:spPr>
          <c:cat>
            <c:strLit>
              <c:ptCount val="5"/>
              <c:pt idx="0">
                <c:v>không lương</c:v>
              </c:pt>
              <c:pt idx="1">
                <c:v>thường_xuyên</c:v>
              </c:pt>
              <c:pt idx="2">
                <c:v>thiếu</c:v>
              </c:pt>
              <c:pt idx="3">
                <c:v>minh_bạch</c:v>
              </c:pt>
              <c:pt idx="4">
                <c:v>thường_xuyên ot</c:v>
              </c:pt>
            </c:strLit>
          </c:cat>
          <c:val>
            <c:numLit>
              <c:formatCode>General</c:formatCode>
              <c:ptCount val="5"/>
              <c:pt idx="0">
                <c:v>30.6</c:v>
              </c:pt>
              <c:pt idx="1">
                <c:v>31</c:v>
              </c:pt>
              <c:pt idx="2">
                <c:v>33.9</c:v>
              </c:pt>
              <c:pt idx="3">
                <c:v>37.3</c:v>
              </c:pt>
              <c:pt idx="4">
                <c:v>44.6</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pic xmlns:a="http://schemas.openxmlformats.org/drawingml/2006/main" xmlns:r="http://schemas.openxmlformats.org/officeDocument/2006/relationships">
        <p:nvPicPr>
          <p:cNvPr id="14" name="Picture 13" descr="sentiment-ml-mark.png"/>
          <p:cNvPicPr>
            <a:picLocks noChangeAspect="1"/>
          </p:cNvPicPr>
          <p:nvPr/>
        </p:nvPicPr>
        <p:blipFill>
          <a:blip r:embed="rId5"/>
          <a:stretch>
            <a:fillRect/>
          </a:stretch>
        </p:blipFill>
        <p:spPr>
          <a:xfrm>
            <a:off x="8239125" y="1476375"/>
            <a:ext cx="3095625" cy="3095625"/>
          </a:xfrm>
          <a:prstGeom prst="rect">
            <a:avLst/>
          </a:prstGeom>
        </p:spPr>
      </p:pic>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8"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d715ca4579904bc8"/>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114"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5"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6"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7"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0,5764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từ phủ định và từ chỉ mức độ như “thấp”, “nhiều”.</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thấp quản_lý thiếu minh_bạch thường_xuyên ot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chạy trên pipeline và model bản sửa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3f4e884f7034a0a"/>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6"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b17d24a0874d4fb8"/>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123"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4"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5"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Xếp hạng gốc – Logistic Regression cải thiện sau sửa lỗi</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5"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e88c139d27314149"/>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Model được triển khai</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Bảng 5 model ban đầu</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LR đạt 0,5727, hơn SVM 0,0003.</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Sau sửa tiền xử lý</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CV riêng tăng từ 0,5708 lên 0,5815.</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Giữ đúng phạm vi so sánh</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Chưa xếp hạng lại bốn model còn lại.</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cải thiện nhẹ, nhưng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74,33%</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0,5764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0,7540</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200" b="1">
                <a:solidFill>
                  <a:srgbClr val="F4F7FB"/>
                </a:solidFill>
                <a:latin typeface="Helvetica Neue"/>
                <a:ea typeface="Helvetica Neue"/>
                <a:cs typeface="Helvetica Neue"/>
              </a:rPr>
              <a:t>432 / 1.683</a:t>
            </a:r>
          </a:p>
          <a:p xmlns:a="http://schemas.openxmlformats.org/drawingml/2006/main">
            <a:pPr algn="l"/>
            <a:r>
              <a:rPr sz="1100" b="1">
                <a:solidFill>
                  <a:srgbClr val="50E3A4"/>
                </a:solidFill>
                <a:latin typeface="Helvetica Neue"/>
              </a:rPr>
              <a:t>(Bản cũ: 442 → Giảm 10 mẫu)</a:t>
            </a:r>
          </a:p>
        </p:txBody>
      </p:sp>
      <p:graphicFrame>
        <p:nvGraphicFramePr>
          <p:cNvPr id="32"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pPr algn="ctr"/>
                      <a:r>
                        <a:rPr sz="1300" b="1">
                          <a:latin typeface="Helvetica Neue"/>
                        </a:rPr>
                        <a:t>52 (45,6%)</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41</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21</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56</a:t>
                      </a:r>
                    </a:p>
                  </a:txBody>
                  <a:tcPr marL="91440" marR="91440" marT="45720" marB="45720">
                    <a:solidFill>
                      <a:srgbClr val="121A26"/>
                    </a:solidFill>
                  </a:tcPr>
                </a:tc>
                <a:tc>
                  <a:txBody>
                    <a:bodyPr/>
                    <a:lstStyle/>
                    <a:p>
                      <a:pPr algn="ctr"/>
                      <a:r>
                        <a:rPr sz="1300" b="1">
                          <a:latin typeface="Helvetica Neue"/>
                        </a:rPr>
                        <a:t>168 (51,2%)</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104</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44</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166</a:t>
                      </a:r>
                    </a:p>
                  </a:txBody>
                  <a:tcPr marL="91440" marR="91440" marT="45720" marB="45720">
                    <a:solidFill>
                      <a:srgbClr val="121A26"/>
                    </a:solidFill>
                  </a:tcPr>
                </a:tc>
                <a:tc>
                  <a:txBody>
                    <a:bodyPr/>
                    <a:lstStyle/>
                    <a:p>
                      <a:pPr algn="ctr"/>
                      <a:r>
                        <a:rPr sz="1300" b="1">
                          <a:latin typeface="Helvetica Neue"/>
                        </a:rPr>
                        <a:t>1.031 (83,1%)</a:t>
                      </a:r>
                    </a:p>
                  </a:txBody>
                  <a:tcPr marL="91440" marR="91440" marT="45720" marB="45720">
                    <a:solidFill>
                      <a:srgbClr val="164F3D"/>
                    </a:solidFill>
                  </a:tcPr>
                </a:tc>
              </a:tr>
            </a:tbl>
          </a:graphicData>
        </a:graphic>
      </p:graphicFrame>
      <p:graphicFrame>
        <p:nvGraphicFramePr>
          <p:cNvPr id="33"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fdddb44e8e944fdc"/>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Đánh giá trên cùng tập Final Test chuẩn (1.683 mẫu) để bảo đảm tính đối chứng công bằng giữa hai phiên bản.</a:t>
            </a:r>
          </a:p>
        </p:txBody>
      </p:sp>
      <p:sp xmlns:a="http://schemas.openxmlformats.org/drawingml/2006/main">
        <p:nvSpPr>
          <p:cNvPr id="34" name="Rounded Rectangle 33"/>
          <p:cNvSpPr/>
          <p:nvPr/>
        </p:nvSpPr>
        <p:spPr>
          <a:xfrm>
            <a:off x="7242048" y="5321808"/>
            <a:ext cx="4005072" cy="347472"/>
          </a:xfrm>
          <a:prstGeom prst="roundRect">
            <a:avLst>
              <a:gd name="adj" fmla="val 20000"/>
            </a:avLst>
          </a:prstGeom>
          <a:solidFill>
            <a:srgbClr val="1B2433"/>
          </a:solidFill>
          <a:ln w="12700">
            <a:solidFill>
              <a:srgbClr val="FF6677"/>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6677"/>
                </a:solidFill>
                <a:latin typeface="Helvetica Neue"/>
              </a:rPr>
              <a:t>⚠️ Recall Negative: 45,6% (đoán đúng 52 / 114 mẫu)</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15 lỗi minh họa cho thấy ba dạng khó thường gặp</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25,7%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15 lỗi đại diện được trích xuất minh họa cho 3 dạng khó phổ biến.</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7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nhiều vế ý</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Một review vừa khen vừa chê, nên khó gói vào một nhãn duy nhất.</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6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Phủ định hoặc cấu trúc khó</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Từ phủ định và câu dài khiến tín hiệu TF-IDF khó diễn giải.</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2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hoặc tín hiệu chưa rõ</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Rating và nội dung có thể lệch nhau; một số câu có ít từ model nhận ra.</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Dạng lỗi do hệ thống phân loại sơ bộ theo từ khóa và cấu trúc câu.</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2"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0f0d06d4599148b7"/>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19"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c85f94e2a97d4378"/>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(×100)</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99,0%</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Cụm từ được giữ lại</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và “lương thấp” là các đặc trưng riêng.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cho biết độ nổi bật. Muốn biết chiều tác động cần xem thêm hệ số Logistic Regression.</a:t>
            </a:r>
          </a:p>
        </p:txBody>
      </p:sp>
      <p:sp xmlns:a="http://schemas.openxmlformats.org/drawingml/2006/main">
        <p:nvSpPr>
          <p:cNvPr id="20" name="Rounded Rectangle 19"/>
          <p:cNvSpPr/>
          <p:nvPr/>
        </p:nvSpPr>
        <p:spPr>
          <a:xfrm>
            <a:off x="612648" y="5870448"/>
            <a:ext cx="10424160" cy="475488"/>
          </a:xfrm>
          <a:prstGeom prst="roundRect">
            <a:avLst>
              <a:gd name="adj" fmla="val 15000"/>
            </a:avLst>
          </a:prstGeom>
          <a:solidFill>
            <a:srgbClr val="141B26"/>
          </a:solidFill>
          <a:ln w="12700">
            <a:solidFill>
              <a:srgbClr val="7AA7FF"/>
            </a:solidFill>
          </a:ln>
        </p:spPr>
        <p:style>
          <a:lnRef idx="1">
            <a:schemeClr val="accent1"/>
          </a:lnRef>
          <a:fillRef idx="3">
            <a:schemeClr val="accent1"/>
          </a:fillRef>
          <a:effectRef idx="2">
            <a:schemeClr val="accent1"/>
          </a:effectRef>
          <a:fontRef idx="minor">
            <a:schemeClr val="lt1"/>
          </a:fontRef>
        </p:style>
        <p:txBody>
          <a:bodyPr rtlCol="0" anchor="ctr" lIns="182880" rIns="182880" tIns="73152" bIns="73152"/>
          <a:lstStyle/>
          <a:p>
            <a:pPr algn="l"/>
            <a:r>
              <a:rPr sz="1200" b="1">
                <a:solidFill>
                  <a:srgbClr val="7AA7FF"/>
                </a:solidFill>
                <a:latin typeface="Helvetica Neue"/>
              </a:rPr>
              <a:t>💬 Review minh họa: </a:t>
            </a:r>
            <a:r>
              <a:rPr sz="1200" i="1">
                <a:solidFill>
                  <a:srgbClr val="F1F5F9"/>
                </a:solidFill>
                <a:latin typeface="Helvetica Neue"/>
              </a:rPr>
              <a:t>"Lương thấp, quản lý thiếu minh bạch và thường xuyên phải OT không lương."</a:t>
            </a:r>
            <a:r>
              <a:rPr sz="1200" b="1">
                <a:solidFill>
                  <a:srgbClr val="9EABBA"/>
                </a:solidFill>
                <a:latin typeface="Helvetica Neue"/>
              </a:rPr>
              <a:t>  →  Mô hình nhận diện: </a:t>
            </a:r>
            <a:r>
              <a:rPr sz="1200" b="1">
                <a:solidFill>
                  <a:srgbClr val="FF6677"/>
                </a:solidFill>
                <a:latin typeface="Helvetica Neue"/>
              </a:rPr>
              <a:t>Tiêu cực (99,0%)</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tốt hơn một chút, nhưng lớp Negative vẫn khó</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Đối chiếu lại Final Test cũ</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0,3910</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0,5815; Final Test cũ 0,5764. Chênh 0,0052, chưa thấy lệch lớn.</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bản sửa bằng CV; đối chiếu trên Final Test cũ.</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
        <p:nvSpPr>
          <p:cNvPr id="26" name="">
            <a:extLst xmlns:a="http://schemas.openxmlformats.org/drawingml/2006/main">
              <a:ext uri="{FF2B5EF4-FFF2-40B4-BE49-F238E27FC236}">
                <a16:creationId xmlns:a16="http://schemas.microsoft.com/office/drawing/2014/main" id="{FBF425F4-BB3B-4DF9-A324-02D8E9A703CF}"/>
              </a:ext>
            </a:extLst>
          </p:cNvPr>
          <p:cNvSpPr>
            <a:spLocks xmlns:a="http://schemas.openxmlformats.org/drawingml/2006/main" noGrp="1"/>
          </p:cNvSpPr>
          <p:nvPr/>
        </p:nvSpPr>
        <p:spPr>
          <a:xfrm xmlns:a="http://schemas.openxmlformats.org/drawingml/2006/main">
            <a:off x="609600" y="59055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45D9A0"/>
                </a:solidFill>
                <a:latin typeface="Helvetica Neue"/>
                <a:ea typeface="Helvetica Neue"/>
                <a:cs typeface="Helvetica Neue"/>
              </a:defRPr>
            </a:pPr>
            <a:r>
              <a:rPr sz="2100" b="1">
                <a:solidFill>
                  <a:srgbClr val="45D9A0"/>
                </a:solidFill>
                <a:latin typeface="Helvetica Neue"/>
                <a:ea typeface="Helvetica Neue"/>
                <a:cs typeface="Helvetica Neue"/>
              </a:rPr>
              <a:t>Kết thúc nội dung chính. Tiếp theo: live demo.</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Chọn review mẫu</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Bấm mẫu “Nhiều vế” có sẵn trong ứng dụng</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2026-09-23T07:36:50.8470000Z</dcterms:created>
  <dcterms:modified xsi:type="dcterms:W3CDTF">2026-09-23T07:36:50.8470000Z</dcterms:modified>
</coreProperties>
</file>